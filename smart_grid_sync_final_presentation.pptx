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WEATHER &amp; RENEWABLE CONTROLS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Environmental Weather Simulation
</a:t>
            </a:r>
            <a:r>
              <a:rPr sz="1400">
                <a:solidFill>
                  <a:srgbClr val="FFFFFF"/>
                </a:solidFill>
                <a:latin typeface="Inter"/>
              </a:rPr>
              <a:t>Dynamic sliders for Ambient Temperature (controls AC load), Cloud Cover (controls solar output), and Wind Velocity (controls wind generator output) to stress-test the grid under varying climates.</a:t>
            </a:r>
          </a:p>
          <a:p>
            <a:pPr>
              <a:spcAft>
                <a:spcPts val="1400"/>
              </a:spcAft>
            </a:pPr>
            <a:r>
              <a:rPr b="1" sz="1600">
                <a:solidFill>
                  <a:srgbClr val="64FFDA"/>
                </a:solidFill>
                <a:latin typeface="Outfit"/>
              </a:rPr>
              <a:t>Renewable Grid Capacities
</a:t>
            </a:r>
            <a:r>
              <a:rPr sz="1400">
                <a:solidFill>
                  <a:srgbClr val="FFFFFF"/>
                </a:solidFill>
                <a:latin typeface="Inter"/>
              </a:rPr>
              <a:t>Sliders for Installed Solar Generation Capacity (0-100 MW) and Installed Wind Generation Capacity (0-100 MW) allowing real-time grid scaling and planning simulations.</a:t>
            </a:r>
          </a:p>
          <a:p>
            <a:pPr>
              <a:spcAft>
                <a:spcPts val="1400"/>
              </a:spcAft>
            </a:pPr>
            <a:r>
              <a:rPr b="1" sz="1600">
                <a:solidFill>
                  <a:srgbClr val="64FFDA"/>
                </a:solidFill>
                <a:latin typeface="Outfit"/>
              </a:rPr>
              <a:t>Manual Dispatch Overrides
</a:t>
            </a:r>
            <a:r>
              <a:rPr sz="1400">
                <a:solidFill>
                  <a:srgbClr val="FFFFFF"/>
                </a:solidFill>
                <a:latin typeface="Inter"/>
              </a:rPr>
              <a:t>Supports forced commands for Battery Storage (Auto AI mode, Force Charging, or Force Discharging) to let operators test grid peak-shaving overrides.</a:t>
            </a:r>
          </a:p>
          <a:p>
            <a:pPr>
              <a:spcAft>
                <a:spcPts val="1400"/>
              </a:spcAft>
            </a:pPr>
            <a:r>
              <a:rPr b="1" sz="1600">
                <a:solidFill>
                  <a:srgbClr val="64FFDA"/>
                </a:solidFill>
                <a:latin typeface="Outfit"/>
              </a:rPr>
              <a:t>Grid Stress Scenarios
</a:t>
            </a:r>
            <a:r>
              <a:rPr sz="1400">
                <a:solidFill>
                  <a:srgbClr val="FFFFFF"/>
                </a:solidFill>
                <a:latin typeface="Inter"/>
              </a:rPr>
              <a:t>One-click hotkeys to trigger standard high-stress scenarios (Heatwaves, Stormy wind surges, Cloudy solar drops, and Line congestion) for immediate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Detection
</a:t>
            </a:r>
            <a:r>
              <a:rPr sz="1500">
                <a:solidFill>
                  <a:srgbClr val="FFFFFF"/>
                </a:solidFill>
                <a:latin typeface="Inter"/>
              </a:rPr>
              <a:t>Scans telemetry in real-time. Grid frequency deviations (&lt; 49.85 Hz or &gt; 50.15 Hz) or load imbalances trigger a warning.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and Grid Stability Factor (frequency standard deviation rating percentage).</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SUSTAINABILITY &amp; GRID ADVISORY</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B388FF"/>
                </a:solidFill>
                <a:latin typeface="Outfit"/>
              </a:rPr>
              <a:t>Carbon Intensity Metric
</a:t>
            </a:r>
            <a:r>
              <a:rPr sz="1400">
                <a:solidFill>
                  <a:srgbClr val="FFFFFF"/>
                </a:solidFill>
                <a:latin typeface="Inter"/>
              </a:rPr>
              <a:t>Calculated as: Carbon Intensity = 450 * (1 - clean_ratio) + 2 * fossil_backup. Tracks emissions in g/kWh in real-time, displaying green clean zones vs. fossil-heavy red zones.</a:t>
            </a:r>
          </a:p>
          <a:p>
            <a:pPr>
              <a:spcAft>
                <a:spcPts val="1400"/>
              </a:spcAft>
            </a:pPr>
            <a:r>
              <a:rPr b="1" sz="1600">
                <a:solidFill>
                  <a:srgbClr val="B388FF"/>
                </a:solidFill>
                <a:latin typeface="Outfit"/>
              </a:rPr>
              <a:t>Total Carbon Saved ($CO_2$ offsets)
</a:t>
            </a:r>
            <a:r>
              <a:rPr sz="1400">
                <a:solidFill>
                  <a:srgbClr val="FFFFFF"/>
                </a:solidFill>
                <a:latin typeface="Inter"/>
              </a:rPr>
              <a:t>Accumulates the mass of carbon emissions saved since midnight in kilograms (kg) based on renewable MWh generation offset values.</a:t>
            </a:r>
          </a:p>
          <a:p>
            <a:pPr>
              <a:spcAft>
                <a:spcPts val="1400"/>
              </a:spcAft>
            </a:pPr>
            <a:r>
              <a:rPr b="1" sz="1600">
                <a:solidFill>
                  <a:srgbClr val="B388FF"/>
                </a:solidFill>
                <a:latin typeface="Outfit"/>
              </a:rPr>
              <a:t>AI Optimization Advisory Feed
</a:t>
            </a:r>
            <a:r>
              <a:rPr sz="1400">
                <a:solidFill>
                  <a:srgbClr val="FFFFFF"/>
                </a:solidFill>
                <a:latin typeface="Inter"/>
              </a:rPr>
              <a:t>Tracks grid diagnostics to trigger instant recommendations (e.g. forced battery charges, secondary reserve generator start-up warnings at &lt;10% SoC).</a:t>
            </a:r>
          </a:p>
          <a:p>
            <a:pPr>
              <a:spcAft>
                <a:spcPts val="1400"/>
              </a:spcAft>
            </a:pPr>
            <a:r>
              <a:rPr b="1" sz="1600">
                <a:solidFill>
                  <a:srgbClr val="B388FF"/>
                </a:solidFill>
                <a:latin typeface="Outfit"/>
              </a:rPr>
              <a:t>Historical Grid Trend Insights
</a:t>
            </a:r>
            <a:r>
              <a:rPr sz="1400">
                <a:solidFill>
                  <a:srgbClr val="FFFFFF"/>
                </a:solidFill>
                <a:latin typeface="Inter"/>
              </a:rPr>
              <a:t>Aggregates SQLite historical logs over a rolling 24-hour window (144 logs) to display Peak Demand Time, Average vs. Peak Load (MW), Grid Stability (%), and Anomaly 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10.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11.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