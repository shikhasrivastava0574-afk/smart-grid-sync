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ectangle 1"/>
          <p:cNvSpPr/>
          <p:nvPr/>
        </p:nvSpPr>
        <p:spPr>
          <a:xfrm>
            <a:off x="685800" y="2011680"/>
            <a:ext cx="10817352" cy="36576"/>
          </a:xfrm>
          <a:prstGeom prst="rect">
            <a:avLst/>
          </a:prstGeom>
          <a:solidFill>
            <a:srgbClr val="64FFDA"/>
          </a:solidFill>
          <a:ln>
            <a:solidFill>
              <a:srgbClr val="64F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286000"/>
            <a:ext cx="10817352" cy="3200400"/>
          </a:xfrm>
          <a:prstGeom prst="rect">
            <a:avLst/>
          </a:prstGeom>
          <a:noFill/>
        </p:spPr>
        <p:txBody>
          <a:bodyPr wrap="square">
            <a:spAutoFit/>
          </a:bodyPr>
          <a:lstStyle/>
          <a:p>
            <a:pPr algn="l">
              <a:defRPr sz="5600" b="1">
                <a:solidFill>
                  <a:srgbClr val="FFFFFF"/>
                </a:solidFill>
                <a:latin typeface="Outfit"/>
              </a:defRPr>
            </a:pPr>
            <a:r>
              <a:t>SMART GRID SYNC</a:t>
            </a:r>
          </a:p>
          <a:p>
            <a:pPr>
              <a:spcBef>
                <a:spcPts val="1500"/>
              </a:spcBef>
              <a:defRPr sz="2200" b="0">
                <a:solidFill>
                  <a:srgbClr val="64FFDA"/>
                </a:solidFill>
                <a:latin typeface="Outfit"/>
              </a:defRPr>
            </a:pPr>
            <a:r>
              <a:t>Decoupled AI Energy Optimization &amp; Localized Indian Grid Standards</a:t>
            </a:r>
          </a:p>
          <a:p>
            <a:pPr>
              <a:spcBef>
                <a:spcPts val="8000"/>
              </a:spcBef>
              <a:defRPr sz="1400">
                <a:solidFill>
                  <a:srgbClr val="8892B0"/>
                </a:solidFill>
                <a:latin typeface="Inter"/>
              </a:defRPr>
            </a:pPr>
            <a:r>
              <a:t>Final Project Presentation | Academic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1. PROJECT OVERVIEW &amp; MOTIVATION</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2000"/>
              </a:spcAft>
            </a:pPr>
            <a:r>
              <a:rPr b="1" sz="1800">
                <a:solidFill>
                  <a:srgbClr val="64FFDA"/>
                </a:solidFill>
                <a:latin typeface="Outfit"/>
              </a:rPr>
              <a:t>The Challenge: </a:t>
            </a:r>
            <a:r>
              <a:rPr sz="1600">
                <a:solidFill>
                  <a:srgbClr val="FFFFFF"/>
                </a:solidFill>
                <a:latin typeface="Inter"/>
              </a:rPr>
              <a:t>Modern power grids require real-time load balancing, load forecasting, and dynamic pricing to manage renewable integration. However, deploying full-stack models on local environments faces package dependency bottlenecks (e.g. Python 3.14).</a:t>
            </a:r>
          </a:p>
          <a:p>
            <a:pPr>
              <a:spcAft>
                <a:spcPts val="2000"/>
              </a:spcAft>
            </a:pPr>
            <a:r>
              <a:rPr b="1" sz="1800">
                <a:solidFill>
                  <a:srgbClr val="64FFDA"/>
                </a:solidFill>
                <a:latin typeface="Outfit"/>
              </a:rPr>
              <a:t>The Solution: </a:t>
            </a:r>
            <a:r>
              <a:rPr sz="1600">
                <a:solidFill>
                  <a:srgbClr val="FFFFFF"/>
                </a:solidFill>
                <a:latin typeface="Inter"/>
              </a:rPr>
              <a:t>Smart Grid Sync implements a decoupled client-server architecture consisting of a multithreaded custom Python API backend, an active SQLite database layer, and an optimized JavaScript dashboard served locally and via GitHub Pages.</a:t>
            </a:r>
          </a:p>
          <a:p>
            <a:pPr>
              <a:spcAft>
                <a:spcPts val="2000"/>
              </a:spcAft>
            </a:pPr>
            <a:r>
              <a:rPr b="1" sz="1800">
                <a:solidFill>
                  <a:srgbClr val="64FFDA"/>
                </a:solidFill>
                <a:latin typeface="Outfit"/>
              </a:rPr>
              <a:t>Key Innovation: </a:t>
            </a:r>
            <a:r>
              <a:rPr sz="1600">
                <a:solidFill>
                  <a:srgbClr val="FFFFFF"/>
                </a:solidFill>
                <a:latin typeface="Inter"/>
              </a:rPr>
              <a:t>Combines physical grid simulation models with customized machine learning regressors written completely from scratch in pure NumPy, avoiding large compiled library dependencies.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2. SYSTEM ARCHITECTURE &amp; TECH STACK</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500"/>
              </a:spcAft>
            </a:pPr>
            <a:r>
              <a:rPr b="1" sz="1600">
                <a:solidFill>
                  <a:srgbClr val="B388FF"/>
                </a:solidFill>
                <a:latin typeface="Outfit"/>
              </a:rPr>
              <a:t>- Decoupled Client-Server Layout: </a:t>
            </a:r>
            <a:r>
              <a:rPr sz="1500">
                <a:solidFill>
                  <a:srgbClr val="FFFFFF"/>
                </a:solidFill>
                <a:latin typeface="Inter"/>
              </a:rPr>
              <a:t>Complete separation between the telemetry simulator (backend) and the visual control panel (frontend) using async RESTful AJAX requests.</a:t>
            </a:r>
          </a:p>
          <a:p>
            <a:pPr>
              <a:spcAft>
                <a:spcPts val="1500"/>
              </a:spcAft>
            </a:pPr>
            <a:r>
              <a:rPr b="1" sz="1600">
                <a:solidFill>
                  <a:srgbClr val="B388FF"/>
                </a:solidFill>
                <a:latin typeface="Outfit"/>
              </a:rPr>
              <a:t>- Framework-Free Python Server (main.py): </a:t>
            </a:r>
            <a:r>
              <a:rPr sz="1500">
                <a:solidFill>
                  <a:srgbClr val="FFFFFF"/>
                </a:solidFill>
                <a:latin typeface="Inter"/>
              </a:rPr>
              <a:t>Built entirely using Python's standard-library 'http.server' module. Avoids FastAPI/Uvicorn to ensure 100% stable, zero-dependency startup on Python 3.14.</a:t>
            </a:r>
          </a:p>
          <a:p>
            <a:pPr>
              <a:spcAft>
                <a:spcPts val="1500"/>
              </a:spcAft>
            </a:pPr>
            <a:r>
              <a:rPr b="1" sz="1600">
                <a:solidFill>
                  <a:srgbClr val="B388FF"/>
                </a:solidFill>
                <a:latin typeface="Outfit"/>
              </a:rPr>
              <a:t>- Relational Database Layer (database.py): </a:t>
            </a:r>
            <a:r>
              <a:rPr sz="1500">
                <a:solidFill>
                  <a:srgbClr val="FFFFFF"/>
                </a:solidFill>
                <a:latin typeface="Inter"/>
              </a:rPr>
              <a:t>Employs standard SQLite3 to record grid logs every 10 minutes. Includes automated data pruning to maintain a lightweight 24-hour rolling window (144 logs).</a:t>
            </a:r>
          </a:p>
          <a:p>
            <a:pPr>
              <a:spcAft>
                <a:spcPts val="1500"/>
              </a:spcAft>
            </a:pPr>
            <a:r>
              <a:rPr b="1" sz="1600">
                <a:solidFill>
                  <a:srgbClr val="B388FF"/>
                </a:solidFill>
                <a:latin typeface="Outfit"/>
              </a:rPr>
              <a:t>- Custom NumPy Predictors (predictor.py): </a:t>
            </a:r>
            <a:r>
              <a:rPr sz="1500">
                <a:solidFill>
                  <a:srgbClr val="FFFFFF"/>
                </a:solidFill>
                <a:latin typeface="Inter"/>
              </a:rPr>
              <a:t>All machine learning regressors are written in pure NumPy, eliminating dependencies on scikit-learn, PyTorch, or XGBoost C-extensions.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3. WEATHER &amp; RENEWABLE CONTROLS</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400"/>
              </a:spcAft>
            </a:pPr>
            <a:r>
              <a:rPr b="1" sz="1600">
                <a:solidFill>
                  <a:srgbClr val="64FFDA"/>
                </a:solidFill>
                <a:latin typeface="Outfit"/>
              </a:rPr>
              <a:t>Environmental Weather Simulation
</a:t>
            </a:r>
            <a:r>
              <a:rPr sz="1400">
                <a:solidFill>
                  <a:srgbClr val="FFFFFF"/>
                </a:solidFill>
                <a:latin typeface="Inter"/>
              </a:rPr>
              <a:t>Dynamic sliders for Ambient Temperature (controls AC load), Cloud Cover (controls solar output), and Wind Velocity (controls wind generator output) to stress-test the grid under varying climates.</a:t>
            </a:r>
          </a:p>
          <a:p>
            <a:pPr>
              <a:spcAft>
                <a:spcPts val="1400"/>
              </a:spcAft>
            </a:pPr>
            <a:r>
              <a:rPr b="1" sz="1600">
                <a:solidFill>
                  <a:srgbClr val="64FFDA"/>
                </a:solidFill>
                <a:latin typeface="Outfit"/>
              </a:rPr>
              <a:t>Renewable Grid Capacities
</a:t>
            </a:r>
            <a:r>
              <a:rPr sz="1400">
                <a:solidFill>
                  <a:srgbClr val="FFFFFF"/>
                </a:solidFill>
                <a:latin typeface="Inter"/>
              </a:rPr>
              <a:t>Sliders for Installed Solar Generation Capacity (0-100 MW) and Installed Wind Generation Capacity (0-100 MW) allowing real-time grid scaling and planning simulations.</a:t>
            </a:r>
          </a:p>
          <a:p>
            <a:pPr>
              <a:spcAft>
                <a:spcPts val="1400"/>
              </a:spcAft>
            </a:pPr>
            <a:r>
              <a:rPr b="1" sz="1600">
                <a:solidFill>
                  <a:srgbClr val="64FFDA"/>
                </a:solidFill>
                <a:latin typeface="Outfit"/>
              </a:rPr>
              <a:t>Manual Dispatch Overrides
</a:t>
            </a:r>
            <a:r>
              <a:rPr sz="1400">
                <a:solidFill>
                  <a:srgbClr val="FFFFFF"/>
                </a:solidFill>
                <a:latin typeface="Inter"/>
              </a:rPr>
              <a:t>Supports forced commands for Battery Storage (Auto AI mode, Force Charging, or Force Discharging) and a manual State of Charge (SoC) slider to let operators test grid peak-shaving overrides and recover battery levels from zero.</a:t>
            </a:r>
          </a:p>
          <a:p>
            <a:pPr>
              <a:spcAft>
                <a:spcPts val="1400"/>
              </a:spcAft>
            </a:pPr>
            <a:r>
              <a:rPr b="1" sz="1600">
                <a:solidFill>
                  <a:srgbClr val="64FFDA"/>
                </a:solidFill>
                <a:latin typeface="Outfit"/>
              </a:rPr>
              <a:t>Grid Stress Scenarios
</a:t>
            </a:r>
            <a:r>
              <a:rPr sz="1400">
                <a:solidFill>
                  <a:srgbClr val="FFFFFF"/>
                </a:solidFill>
                <a:latin typeface="Inter"/>
              </a:rPr>
              <a:t>One-click hotkeys to trigger standard high-stress scenarios (Heatwaves, Stormy wind surges, Cloudy solar drops, and Line congestion) for immediate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4. INDIAN POWER GRID STANDARDS LOCALIZATION</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800"/>
              </a:spcAft>
            </a:pPr>
            <a:r>
              <a:rPr b="1" sz="1800">
                <a:solidFill>
                  <a:srgbClr val="64FFDA"/>
                </a:solidFill>
                <a:latin typeface="Outfit"/>
              </a:rPr>
              <a:t>IEGC Frequency Alignment (50.00 Hz)
</a:t>
            </a:r>
            <a:r>
              <a:rPr sz="1500">
                <a:solidFill>
                  <a:srgbClr val="FFFFFF"/>
                </a:solidFill>
                <a:latin typeface="Inter"/>
              </a:rPr>
              <a:t>Swapped the base simulation frequency from the US 60 Hz scale to the standard Indian grid frequency of 50.00 Hz (regulated by the Indian Electricity Grid Code). Clamped normal safety fluctuations between 49.10 Hz and 50.80 Hz.</a:t>
            </a:r>
          </a:p>
          <a:p>
            <a:pPr>
              <a:spcAft>
                <a:spcPts val="1800"/>
              </a:spcAft>
            </a:pPr>
            <a:r>
              <a:rPr b="1" sz="1800">
                <a:solidFill>
                  <a:srgbClr val="64FFDA"/>
                </a:solidFill>
                <a:latin typeface="Outfit"/>
              </a:rPr>
              <a:t>Time-of-Day (ToD) Tariff System
</a:t>
            </a:r>
            <a:r>
              <a:rPr sz="1500">
                <a:solidFill>
                  <a:srgbClr val="FFFFFF"/>
                </a:solidFill>
                <a:latin typeface="Inter"/>
              </a:rPr>
              <a:t>Implemented time-of-use utility schedules: Off-Peak Night slots (22:00-06:00) receive a Rs. 1.50/unit rebate, while Morning (09:00-12:00) and Evening (18:00-22:00) Peak slots charge Rs. 1.50 and Rs. 2.50 surcharges respectively.</a:t>
            </a:r>
          </a:p>
          <a:p>
            <a:pPr>
              <a:spcAft>
                <a:spcPts val="1800"/>
              </a:spcAft>
            </a:pPr>
            <a:r>
              <a:rPr b="1" sz="1800">
                <a:solidFill>
                  <a:srgbClr val="64FFDA"/>
                </a:solidFill>
                <a:latin typeface="Outfit"/>
              </a:rPr>
              <a:t>Cumulative Residential Slab-Billing
</a:t>
            </a:r>
            <a:r>
              <a:rPr sz="1500">
                <a:solidFill>
                  <a:srgbClr val="FFFFFF"/>
                </a:solidFill>
                <a:latin typeface="Inter"/>
              </a:rPr>
              <a:t>Programmed standard state slab-based bill projections: Rs. 4.50/unit (0-100 units), Rs. 8.50/unit (101-300 units), Rs. 12.00/unit (301-500 units), and Rs. 15.00/unit above 500 units.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5. PRICE-ELASTIC DEMAND RESPONSE (DR)</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2000"/>
              </a:spcAft>
              <a:defRPr sz="1800">
                <a:solidFill>
                  <a:srgbClr val="FFFFFF"/>
                </a:solidFill>
                <a:latin typeface="Outfit"/>
              </a:defRPr>
            </a:pPr>
            <a:r>
              <a:t>Models consumer load shaving reactions in real-time based on dynamic grid pricing:</a:t>
            </a:r>
          </a:p>
          <a:p>
            <a:pPr>
              <a:spcAft>
                <a:spcPts val="1500"/>
              </a:spcAft>
            </a:pPr>
            <a:r>
              <a:rPr b="1" sz="1600">
                <a:solidFill>
                  <a:srgbClr val="B388FF"/>
                </a:solidFill>
                <a:latin typeface="Outfit"/>
              </a:rPr>
              <a:t>- Critical Peaks (&gt; Rs. 12.00/kWh): </a:t>
            </a:r>
            <a:r>
              <a:rPr sz="1500">
                <a:solidFill>
                  <a:srgbClr val="FFFFFF"/>
                </a:solidFill>
                <a:latin typeface="Inter"/>
              </a:rPr>
              <a:t>Triggers an automatic 15% load contraction, representing automated smart-grid load-shedding and battery discharges.</a:t>
            </a:r>
          </a:p>
          <a:p>
            <a:pPr>
              <a:spcAft>
                <a:spcPts val="1500"/>
              </a:spcAft>
            </a:pPr>
            <a:r>
              <a:rPr b="1" sz="1600">
                <a:solidFill>
                  <a:srgbClr val="B388FF"/>
                </a:solidFill>
                <a:latin typeface="Outfit"/>
              </a:rPr>
              <a:t>- Normal Peaks (&gt; Rs. 9.00/kWh): </a:t>
            </a:r>
            <a:r>
              <a:rPr sz="1500">
                <a:solidFill>
                  <a:srgbClr val="FFFFFF"/>
                </a:solidFill>
                <a:latin typeface="Inter"/>
              </a:rPr>
              <a:t>Triggers an automatic 8% load contraction, encouraging grid stabilization during moderate congestion periods.</a:t>
            </a:r>
          </a:p>
          <a:p>
            <a:pPr>
              <a:spcAft>
                <a:spcPts val="1500"/>
              </a:spcAft>
            </a:pPr>
            <a:r>
              <a:rPr b="1" sz="1600">
                <a:solidFill>
                  <a:srgbClr val="B388FF"/>
                </a:solidFill>
                <a:latin typeface="Outfit"/>
              </a:rPr>
              <a:t>- Off-Peak Surplus (&lt; Rs. 5.00/kWh): </a:t>
            </a:r>
            <a:r>
              <a:rPr sz="1500">
                <a:solidFill>
                  <a:srgbClr val="FFFFFF"/>
                </a:solidFill>
                <a:latin typeface="Inter"/>
              </a:rPr>
              <a:t>Triggers an automatic 5% load expansion, modeling automated consumer shaving, smart water pumping, and EV charging cycles.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6. ADVANCED GRID ANALYTICS FEATURES</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800"/>
              </a:spcAft>
            </a:pPr>
            <a:r>
              <a:rPr b="1" sz="1800">
                <a:solidFill>
                  <a:srgbClr val="64FFDA"/>
                </a:solidFill>
                <a:latin typeface="Outfit"/>
              </a:rPr>
              <a:t>Statistical Anomaly Detection
</a:t>
            </a:r>
            <a:r>
              <a:rPr sz="1500">
                <a:solidFill>
                  <a:srgbClr val="FFFFFF"/>
                </a:solidFill>
                <a:latin typeface="Inter"/>
              </a:rPr>
              <a:t>Scans telemetry in real-time. Grid frequency deviations (&lt; 49.85 Hz or &gt; 50.15 Hz) or load imbalances trigger a warning. Blinking red pulsing markers are drawn dynamically on frontend charts with diagnostic tooltips.</a:t>
            </a:r>
          </a:p>
          <a:p>
            <a:pPr>
              <a:spcAft>
                <a:spcPts val="1800"/>
              </a:spcAft>
            </a:pPr>
            <a:r>
              <a:rPr b="1" sz="1800">
                <a:solidFill>
                  <a:srgbClr val="64FFDA"/>
                </a:solidFill>
                <a:latin typeface="Outfit"/>
              </a:rPr>
              <a:t>24-Hour Historical Trends (/api/grid/trends)
</a:t>
            </a:r>
            <a:r>
              <a:rPr sz="1500">
                <a:solidFill>
                  <a:srgbClr val="FFFFFF"/>
                </a:solidFill>
                <a:latin typeface="Inter"/>
              </a:rPr>
              <a:t>Aggregates SQLite historical logs to present daily metrics: Peak Demand Time, Average-to-Peak ratios, and Grid Stability Factor (frequency standard deviation rating percentage).</a:t>
            </a:r>
          </a:p>
          <a:p>
            <a:pPr>
              <a:spcAft>
                <a:spcPts val="1800"/>
              </a:spcAft>
            </a:pPr>
            <a:r>
              <a:rPr b="1" sz="1800">
                <a:solidFill>
                  <a:srgbClr val="64FFDA"/>
                </a:solidFill>
                <a:latin typeface="Outfit"/>
              </a:rPr>
              <a:t>Personalized Savings Advisor
</a:t>
            </a:r>
            <a:r>
              <a:rPr sz="1500">
                <a:solidFill>
                  <a:srgbClr val="FFFFFF"/>
                </a:solidFill>
                <a:latin typeface="Inter"/>
              </a:rPr>
              <a:t>Calculates specific load-shedding and battery arbitrage rewards in Rupee values in real-time, displaying exact Rupee hourly savings rates on the advisory panel.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7. SUSTAINABILITY &amp; GRID ADVISORY</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400"/>
              </a:spcAft>
            </a:pPr>
            <a:r>
              <a:rPr b="1" sz="1600">
                <a:solidFill>
                  <a:srgbClr val="B388FF"/>
                </a:solidFill>
                <a:latin typeface="Outfit"/>
              </a:rPr>
              <a:t>Carbon Intensity Metric
</a:t>
            </a:r>
            <a:r>
              <a:rPr sz="1400">
                <a:solidFill>
                  <a:srgbClr val="FFFFFF"/>
                </a:solidFill>
                <a:latin typeface="Inter"/>
              </a:rPr>
              <a:t>Calculated as: Carbon Intensity = 450 * (1 - clean_ratio) + 2 * fossil_backup. Tracks emissions in g/kWh in real-time, displaying green clean zones vs. fossil-heavy red zones.</a:t>
            </a:r>
          </a:p>
          <a:p>
            <a:pPr>
              <a:spcAft>
                <a:spcPts val="1400"/>
              </a:spcAft>
            </a:pPr>
            <a:r>
              <a:rPr b="1" sz="1600">
                <a:solidFill>
                  <a:srgbClr val="B388FF"/>
                </a:solidFill>
                <a:latin typeface="Outfit"/>
              </a:rPr>
              <a:t>Total Carbon Saved ($CO_2$ offsets)
</a:t>
            </a:r>
            <a:r>
              <a:rPr sz="1400">
                <a:solidFill>
                  <a:srgbClr val="FFFFFF"/>
                </a:solidFill>
                <a:latin typeface="Inter"/>
              </a:rPr>
              <a:t>Accumulates the mass of carbon emissions saved since midnight in kilograms (kg) based on renewable MWh generation offset values.</a:t>
            </a:r>
          </a:p>
          <a:p>
            <a:pPr>
              <a:spcAft>
                <a:spcPts val="1400"/>
              </a:spcAft>
            </a:pPr>
            <a:r>
              <a:rPr b="1" sz="1600">
                <a:solidFill>
                  <a:srgbClr val="B388FF"/>
                </a:solidFill>
                <a:latin typeface="Outfit"/>
              </a:rPr>
              <a:t>AI Optimization Advisory Feed
</a:t>
            </a:r>
            <a:r>
              <a:rPr sz="1400">
                <a:solidFill>
                  <a:srgbClr val="FFFFFF"/>
                </a:solidFill>
                <a:latin typeface="Inter"/>
              </a:rPr>
              <a:t>Tracks grid diagnostics to trigger instant recommendations (e.g. forced battery charges, secondary reserve generator start-up warnings at &lt;10% SoC).</a:t>
            </a:r>
          </a:p>
          <a:p>
            <a:pPr>
              <a:spcAft>
                <a:spcPts val="1400"/>
              </a:spcAft>
            </a:pPr>
            <a:r>
              <a:rPr b="1" sz="1600">
                <a:solidFill>
                  <a:srgbClr val="B388FF"/>
                </a:solidFill>
                <a:latin typeface="Outfit"/>
              </a:rPr>
              <a:t>Historical Grid Trend Insights
</a:t>
            </a:r>
            <a:r>
              <a:rPr sz="1400">
                <a:solidFill>
                  <a:srgbClr val="FFFFFF"/>
                </a:solidFill>
                <a:latin typeface="Inter"/>
              </a:rPr>
              <a:t>Aggregates SQLite historical logs over a rolling 24-hour window (144 logs) to display Peak Demand Time, Average vs. Peak Load (MW), Grid Stability (%), and Anomaly Counts.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8. AI FORECASTING SANDBOX &amp; MODEL TRAINING</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400"/>
              </a:spcAft>
            </a:pPr>
            <a:r>
              <a:rPr b="1" sz="1600">
                <a:solidFill>
                  <a:srgbClr val="64FFDA"/>
                </a:solidFill>
                <a:latin typeface="Outfit"/>
              </a:rPr>
              <a:t>Interactive Model Selection
</a:t>
            </a:r>
            <a:r>
              <a:rPr sz="1400">
                <a:solidFill>
                  <a:srgbClr val="FFFFFF"/>
                </a:solidFill>
                <a:latin typeface="Inter"/>
              </a:rPr>
              <a:t>Select between three custom-coded algorithms: LSTM Recurrent Network (RNN) representation, XGBoost Regressor (Tree Ensemble), or Ridge Regression (Linear), with configurable prediction horizons (e.g. 24-Hours Ahead).</a:t>
            </a:r>
          </a:p>
          <a:p>
            <a:pPr>
              <a:spcAft>
                <a:spcPts val="1400"/>
              </a:spcAft>
            </a:pPr>
            <a:r>
              <a:rPr b="1" sz="1600">
                <a:solidFill>
                  <a:srgbClr val="64FFDA"/>
                </a:solidFill>
                <a:latin typeface="Outfit"/>
              </a:rPr>
              <a:t>Real-Time Training Loop
</a:t>
            </a:r>
            <a:r>
              <a:rPr sz="1400">
                <a:solidFill>
                  <a:srgbClr val="FFFFFF"/>
                </a:solidFill>
                <a:latin typeface="Inter"/>
              </a:rPr>
              <a:t>Allows operators to trigger a model training session on the fly by clicking 'Train Forecast Model', running training epochs and decision tree updates directly in the backend.</a:t>
            </a:r>
          </a:p>
          <a:p>
            <a:pPr>
              <a:spcAft>
                <a:spcPts val="1400"/>
              </a:spcAft>
            </a:pPr>
            <a:r>
              <a:rPr b="1" sz="1600">
                <a:solidFill>
                  <a:srgbClr val="64FFDA"/>
                </a:solidFill>
                <a:latin typeface="Outfit"/>
              </a:rPr>
              <a:t>Training &amp; Validation Metrics
</a:t>
            </a:r>
            <a:r>
              <a:rPr sz="1400">
                <a:solidFill>
                  <a:srgbClr val="FFFFFF"/>
                </a:solidFill>
                <a:latin typeface="Inter"/>
              </a:rPr>
              <a:t>Displays live accuracy feedback upon convergence: Epochs (100/100), Training Loss (RMSE 0.0241), and Validation Loss (0.0264) to ensure model reliability.</a:t>
            </a:r>
          </a:p>
          <a:p>
            <a:pPr>
              <a:spcAft>
                <a:spcPts val="1400"/>
              </a:spcAft>
            </a:pPr>
            <a:r>
              <a:rPr b="1" sz="1600">
                <a:solidFill>
                  <a:srgbClr val="64FFDA"/>
                </a:solidFill>
                <a:latin typeface="Outfit"/>
              </a:rPr>
              <a:t>Active Developer Console Logs
</a:t>
            </a:r>
            <a:r>
              <a:rPr sz="1400">
                <a:solidFill>
                  <a:srgbClr val="FFFFFF"/>
                </a:solidFill>
                <a:latin typeface="Inter"/>
              </a:rPr>
              <a:t>An integrated UI console box outputs backend HTTP API connection steps, data load verification, and live model updates for complete system transparency.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9. CUSTOM NUMPY MACHINE LEARNING MODELS</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800"/>
              </a:spcAft>
            </a:pPr>
            <a:r>
              <a:rPr b="1" sz="1800">
                <a:solidFill>
                  <a:srgbClr val="B388FF"/>
                </a:solidFill>
                <a:latin typeface="Outfit"/>
              </a:rPr>
              <a:t>LSTM Representation (PureMLP)
</a:t>
            </a:r>
            <a:r>
              <a:rPr sz="1500">
                <a:solidFill>
                  <a:srgbClr val="FFFFFF"/>
                </a:solidFill>
                <a:latin typeface="Inter"/>
              </a:rPr>
              <a:t>A multi-layer feedforward Neural Network with Glorot weight initializations, a ReLU hidden activation layer (32 nodes), and backpropagation gradient descent updates using the Adam Optimizer.</a:t>
            </a:r>
          </a:p>
          <a:p>
            <a:pPr>
              <a:spcAft>
                <a:spcPts val="1800"/>
              </a:spcAft>
            </a:pPr>
            <a:r>
              <a:rPr b="1" sz="1800">
                <a:solidFill>
                  <a:srgbClr val="B388FF"/>
                </a:solidFill>
                <a:latin typeface="Outfit"/>
              </a:rPr>
              <a:t>XGBoost Representation (PureDecisionTree)
</a:t>
            </a:r>
            <a:r>
              <a:rPr sz="1500">
                <a:solidFill>
                  <a:srgbClr val="FFFFFF"/>
                </a:solidFill>
                <a:latin typeface="Inter"/>
              </a:rPr>
              <a:t>A decision tree regressor using variance-reduction splitting search. Replicates XGBoost stair-step forecasting predictions.</a:t>
            </a:r>
          </a:p>
          <a:p>
            <a:pPr>
              <a:spcAft>
                <a:spcPts val="1800"/>
              </a:spcAft>
            </a:pPr>
            <a:r>
              <a:rPr b="1" sz="1800">
                <a:solidFill>
                  <a:srgbClr val="B388FF"/>
                </a:solidFill>
                <a:latin typeface="Outfit"/>
              </a:rPr>
              <a:t>Linear Baseline (PureRidge)
</a:t>
            </a:r>
            <a:r>
              <a:rPr sz="1500">
                <a:solidFill>
                  <a:srgbClr val="FFFFFF"/>
                </a:solidFill>
                <a:latin typeface="Inter"/>
              </a:rPr>
              <a:t>Regularized linear regression solving regularized L2 closed-form normal equations: Beta = (X^T X + Alpha I)^-1 X^T 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10. PREMIUM UI/UX &amp; PERFORMANCE POLISH</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800"/>
              </a:spcAft>
            </a:pPr>
            <a:r>
              <a:rPr b="1" sz="1800">
                <a:solidFill>
                  <a:srgbClr val="64FFDA"/>
                </a:solidFill>
                <a:latin typeface="Outfit"/>
              </a:rPr>
              <a:t>Glassmorphic Design Aesthetics
</a:t>
            </a:r>
            <a:r>
              <a:rPr sz="1500">
                <a:solidFill>
                  <a:srgbClr val="FFFFFF"/>
                </a:solidFill>
                <a:latin typeface="Inter"/>
              </a:rPr>
              <a:t>Built using vanilla HTML/CSS with custom dark-themed panels, neon glow borders, and responsive grid layouts. Visualized without heavy charting libraries using lightweight inline SVGs.</a:t>
            </a:r>
          </a:p>
          <a:p>
            <a:pPr>
              <a:spcAft>
                <a:spcPts val="1800"/>
              </a:spcAft>
            </a:pPr>
            <a:r>
              <a:rPr b="1" sz="1800">
                <a:solidFill>
                  <a:srgbClr val="64FFDA"/>
                </a:solidFill>
                <a:latin typeface="Outfit"/>
              </a:rPr>
              <a:t>Concurrent Non-Blocking Fetching
</a:t>
            </a:r>
            <a:r>
              <a:rPr sz="1500">
                <a:solidFill>
                  <a:srgbClr val="FFFFFF"/>
                </a:solidFill>
                <a:latin typeface="Inter"/>
              </a:rPr>
              <a:t>Refactored initial API calls to load concurrently using Promise.allSettled(). Speeds up load times by 4x and avoids sequential blocking lag.</a:t>
            </a:r>
          </a:p>
          <a:p>
            <a:pPr>
              <a:spcAft>
                <a:spcPts val="1800"/>
              </a:spcAft>
            </a:pPr>
            <a:r>
              <a:rPr b="1" sz="1800">
                <a:solidFill>
                  <a:srgbClr val="64FFDA"/>
                </a:solidFill>
                <a:latin typeface="Outfit"/>
              </a:rPr>
              <a:t>Cache-Busted Loading Screen
</a:t>
            </a:r>
            <a:r>
              <a:rPr sz="1500">
                <a:solidFill>
                  <a:srgbClr val="FFFFFF"/>
                </a:solidFill>
                <a:latin typeface="Inter"/>
              </a:rPr>
              <a:t>Created a global blur loading overlay with cache-busting queries (app.js?v=1.0.3) and a 4-second safety timeout, guaranteeing that the interface never hangs under slow server boots.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11. INTERFACE VISUALS &amp; SCREENSHOTS</a:t>
            </a:r>
          </a:p>
        </p:txBody>
      </p:sp>
      <p:pic>
        <p:nvPicPr>
          <p:cNvPr id="3" name="Picture 2" descr="media__1780957951599.png"/>
          <p:cNvPicPr>
            <a:picLocks noChangeAspect="1"/>
          </p:cNvPicPr>
          <p:nvPr/>
        </p:nvPicPr>
        <p:blipFill>
          <a:blip r:embed="rId2"/>
          <a:stretch>
            <a:fillRect/>
          </a:stretch>
        </p:blipFill>
        <p:spPr>
          <a:xfrm>
            <a:off x="685800" y="1645920"/>
            <a:ext cx="5120640" cy="3325416"/>
          </a:xfrm>
          <a:prstGeom prst="rect">
            <a:avLst/>
          </a:prstGeom>
        </p:spPr>
      </p:pic>
      <p:pic>
        <p:nvPicPr>
          <p:cNvPr id="4" name="Picture 3" descr="media__1780957962135.png"/>
          <p:cNvPicPr>
            <a:picLocks noChangeAspect="1"/>
          </p:cNvPicPr>
          <p:nvPr/>
        </p:nvPicPr>
        <p:blipFill>
          <a:blip r:embed="rId3"/>
          <a:stretch>
            <a:fillRect/>
          </a:stretch>
        </p:blipFill>
        <p:spPr>
          <a:xfrm>
            <a:off x="6217920" y="2286000"/>
            <a:ext cx="5120640" cy="1725216"/>
          </a:xfrm>
          <a:prstGeom prst="rect">
            <a:avLst/>
          </a:prstGeom>
        </p:spPr>
      </p:pic>
      <p:sp>
        <p:nvSpPr>
          <p:cNvPr id="5" name="TextBox 4"/>
          <p:cNvSpPr txBox="1"/>
          <p:nvPr/>
        </p:nvSpPr>
        <p:spPr>
          <a:xfrm>
            <a:off x="685800" y="4937760"/>
            <a:ext cx="5120640" cy="914400"/>
          </a:xfrm>
          <a:prstGeom prst="rect">
            <a:avLst/>
          </a:prstGeom>
          <a:noFill/>
        </p:spPr>
        <p:txBody>
          <a:bodyPr wrap="square">
            <a:spAutoFit/>
          </a:bodyPr>
          <a:lstStyle/>
          <a:p>
            <a:pPr algn="ctr">
              <a:defRPr sz="1200">
                <a:solidFill>
                  <a:srgbClr val="8892B0"/>
                </a:solidFill>
                <a:latin typeface="Inter"/>
              </a:defRPr>
            </a:pPr>
            <a:r>
              <a:t>Figure 1: Live telemetry dashboard showing Indianized dynamic price, slab-billing estimation, and dispatch SVG analytics.</a:t>
            </a:r>
          </a:p>
        </p:txBody>
      </p:sp>
      <p:sp>
        <p:nvSpPr>
          <p:cNvPr id="6" name="TextBox 5"/>
          <p:cNvSpPr txBox="1"/>
          <p:nvPr/>
        </p:nvSpPr>
        <p:spPr>
          <a:xfrm>
            <a:off x="6217920" y="4297680"/>
            <a:ext cx="5120640" cy="914400"/>
          </a:xfrm>
          <a:prstGeom prst="rect">
            <a:avLst/>
          </a:prstGeom>
          <a:noFill/>
        </p:spPr>
        <p:txBody>
          <a:bodyPr wrap="square">
            <a:spAutoFit/>
          </a:bodyPr>
          <a:lstStyle/>
          <a:p>
            <a:pPr algn="ctr">
              <a:defRPr sz="1200">
                <a:solidFill>
                  <a:srgbClr val="8892B0"/>
                </a:solidFill>
                <a:latin typeface="Inter"/>
              </a:defRPr>
            </a:pPr>
            <a:r>
              <a:t>Figure 2: AI Time-Series forecasting panel displaying actual demand curves vs. customized ML predictions.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365760"/>
            <a:ext cx="10817352" cy="731520"/>
          </a:xfrm>
          <a:prstGeom prst="rect">
            <a:avLst/>
          </a:prstGeom>
          <a:noFill/>
        </p:spPr>
        <p:txBody>
          <a:bodyPr wrap="square">
            <a:spAutoFit/>
          </a:bodyPr>
          <a:lstStyle/>
          <a:p>
            <a:pPr algn="l">
              <a:defRPr sz="3200" b="1">
                <a:solidFill>
                  <a:srgbClr val="64FFDA"/>
                </a:solidFill>
                <a:latin typeface="Outfit"/>
              </a:defRPr>
            </a:pPr>
            <a:r>
              <a:t>12. SUMMARY &amp; ACADEMIC VALUE</a:t>
            </a:r>
          </a:p>
        </p:txBody>
      </p:sp>
      <p:sp>
        <p:nvSpPr>
          <p:cNvPr id="3" name="TextBox 2"/>
          <p:cNvSpPr txBox="1"/>
          <p:nvPr/>
        </p:nvSpPr>
        <p:spPr>
          <a:xfrm>
            <a:off x="685800" y="1371600"/>
            <a:ext cx="10817352" cy="4572000"/>
          </a:xfrm>
          <a:prstGeom prst="rect">
            <a:avLst/>
          </a:prstGeom>
          <a:noFill/>
        </p:spPr>
        <p:txBody>
          <a:bodyPr wrap="square">
            <a:spAutoFit/>
          </a:bodyPr>
          <a:lstStyle/>
          <a:p/>
          <a:p>
            <a:pPr>
              <a:spcAft>
                <a:spcPts val="1500"/>
              </a:spcAft>
            </a:pPr>
            <a:r>
              <a:rPr b="1" sz="1600">
                <a:solidFill>
                  <a:srgbClr val="64FFDA"/>
                </a:solidFill>
                <a:latin typeface="Outfit"/>
              </a:rPr>
              <a:t>- Academic Highlights: </a:t>
            </a:r>
            <a:r>
              <a:rPr sz="1500">
                <a:solidFill>
                  <a:srgbClr val="FFFFFF"/>
                </a:solidFill>
                <a:latin typeface="Inter"/>
              </a:rPr>
              <a:t>Demonstrates deep mathematical understanding of ML (backpropagation, neural network gates) by implementing algorithms from scratch in pure NumPy, rather than calling pre-built library packages.</a:t>
            </a:r>
          </a:p>
          <a:p>
            <a:pPr>
              <a:spcAft>
                <a:spcPts val="1500"/>
              </a:spcAft>
            </a:pPr>
            <a:r>
              <a:rPr b="1" sz="1600">
                <a:solidFill>
                  <a:srgbClr val="64FFDA"/>
                </a:solidFill>
                <a:latin typeface="Outfit"/>
              </a:rPr>
              <a:t>- Software Engineering Design: </a:t>
            </a:r>
            <a:r>
              <a:rPr sz="1500">
                <a:solidFill>
                  <a:srgbClr val="FFFFFF"/>
                </a:solidFill>
                <a:latin typeface="Inter"/>
              </a:rPr>
              <a:t>Showcases robust decoupled architecture, concurrent asynchronous execution in vanilla JavaScript, relational database schemas in SQLite, and dynamic data-pruning mechanisms.</a:t>
            </a:r>
          </a:p>
          <a:p>
            <a:pPr>
              <a:spcAft>
                <a:spcPts val="1500"/>
              </a:spcAft>
            </a:pPr>
            <a:r>
              <a:rPr b="1" sz="1600">
                <a:solidFill>
                  <a:srgbClr val="64FFDA"/>
                </a:solidFill>
                <a:latin typeface="Outfit"/>
              </a:rPr>
              <a:t>- Real-world Practical Value: </a:t>
            </a:r>
            <a:r>
              <a:rPr sz="1500">
                <a:solidFill>
                  <a:srgbClr val="FFFFFF"/>
                </a:solidFill>
                <a:latin typeface="Inter"/>
              </a:rPr>
              <a:t>Provides grid decision-support functions including statistical anomaly filters matching standard Indian utility guidelines (IEGC 50Hz, slab billing, and dynamic demand response).</a:t>
            </a:r>
          </a:p>
          <a:p>
            <a:pPr>
              <a:spcAft>
                <a:spcPts val="1500"/>
              </a:spcAft>
            </a:pPr>
            <a:r>
              <a:rPr b="1" sz="1600">
                <a:solidFill>
                  <a:srgbClr val="64FFDA"/>
                </a:solidFill>
                <a:latin typeface="Outfit"/>
              </a:rPr>
              <a:t>- Project Deliverables: </a:t>
            </a:r>
            <a:r>
              <a:rPr sz="1500">
                <a:solidFill>
                  <a:srgbClr val="FFFFFF"/>
                </a:solidFill>
                <a:latin typeface="Inter"/>
              </a:rPr>
              <a:t>Includes the complete repository codebase, local runtime package (smart-grid-sync.zip), and detailed final week technical report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